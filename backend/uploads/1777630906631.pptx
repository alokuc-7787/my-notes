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66"/>
    <a:srgbClr val="3BB3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18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57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0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4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9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21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4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5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8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70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3054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13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56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08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06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00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EBCBBFA-E0C9-4AE9-8E3D-E7745F3177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090CD-E619-4E23-A5A0-31B52238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00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FABE-5278-5575-8FB8-6F635EB40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6162" y="839722"/>
            <a:ext cx="7459676" cy="758953"/>
          </a:xfrm>
        </p:spPr>
        <p:txBody>
          <a:bodyPr/>
          <a:lstStyle/>
          <a:p>
            <a:r>
              <a:rPr lang="en-US" sz="4400" u="sng" dirty="0">
                <a:solidFill>
                  <a:srgbClr val="FF3300"/>
                </a:solidFill>
                <a:latin typeface="Comic Sans MS" panose="030F0702030302020204" pitchFamily="66" charset="0"/>
              </a:rPr>
              <a:t>Title:- </a:t>
            </a:r>
            <a:r>
              <a:rPr lang="en-US" sz="4400" u="sng" dirty="0">
                <a:latin typeface="Comic Sans MS" panose="030F0702030302020204" pitchFamily="66" charset="0"/>
              </a:rPr>
              <a:t>Inheritance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24A1A-EAAB-14F8-266F-17ABC9E28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5416" y="2450592"/>
            <a:ext cx="9468549" cy="182575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66"/>
                </a:solidFill>
                <a:latin typeface="Comic Sans MS" panose="030F0702030302020204" pitchFamily="66" charset="0"/>
              </a:rPr>
              <a:t>name – Priyanka kumari</a:t>
            </a:r>
          </a:p>
          <a:p>
            <a:r>
              <a:rPr lang="en-US" sz="2800" dirty="0">
                <a:solidFill>
                  <a:srgbClr val="FFFF66"/>
                </a:solidFill>
                <a:latin typeface="Comic Sans MS" panose="030F0702030302020204" pitchFamily="66" charset="0"/>
              </a:rPr>
              <a:t>Roll no. – 0501cs241138</a:t>
            </a:r>
          </a:p>
          <a:p>
            <a:r>
              <a:rPr lang="en-US" sz="2800" dirty="0">
                <a:solidFill>
                  <a:srgbClr val="FFFF66"/>
                </a:solidFill>
                <a:latin typeface="Comic Sans MS" panose="030F0702030302020204" pitchFamily="66" charset="0"/>
              </a:rPr>
              <a:t>Section - b</a:t>
            </a:r>
            <a:endParaRPr lang="en-US" dirty="0">
              <a:solidFill>
                <a:srgbClr val="FFFF66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20822-0056-4510-5C53-147D1E734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70" y="297561"/>
            <a:ext cx="1808546" cy="215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62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E861-9BE8-2592-0520-A54770AD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0" y="630130"/>
            <a:ext cx="7296913" cy="1156626"/>
          </a:xfrm>
        </p:spPr>
        <p:txBody>
          <a:bodyPr/>
          <a:lstStyle/>
          <a:p>
            <a:r>
              <a:rPr lang="en-US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Title:</a:t>
            </a:r>
            <a:r>
              <a:rPr lang="en-US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Comic Sans MS" panose="030F0702030302020204" pitchFamily="66" charset="0"/>
              </a:rPr>
              <a:t> What is Inheritance?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CC5FE5-2F76-037F-4C79-BBF504911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2" y="297561"/>
            <a:ext cx="1808546" cy="2153031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24CF665-C3F0-BA75-AB2C-4995FEEB52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4570" y="1494370"/>
            <a:ext cx="9505430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 of Object-Oriented Programming (OOP)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child 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 properties and methods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 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reusing existing code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writing it again.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 development faster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to maintain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relationships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Parent–Child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 programs.</a:t>
            </a:r>
          </a:p>
        </p:txBody>
      </p:sp>
    </p:spTree>
    <p:extLst>
      <p:ext uri="{BB962C8B-B14F-4D97-AF65-F5344CB8AC3E}">
        <p14:creationId xmlns:p14="http://schemas.microsoft.com/office/powerpoint/2010/main" val="3723814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DEB4A-FD1E-2D09-3D0D-511CF6BC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031" y="881373"/>
            <a:ext cx="7600242" cy="1400530"/>
          </a:xfrm>
        </p:spPr>
        <p:txBody>
          <a:bodyPr/>
          <a:lstStyle/>
          <a:p>
            <a:r>
              <a:rPr lang="en-US" u="sng" dirty="0">
                <a:latin typeface="Comic Sans MS" panose="030F0702030302020204" pitchFamily="66" charset="0"/>
              </a:rPr>
              <a:t>Why Inheritance is Used?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6F7EAE-9551-7DB5-5521-3B8ADDAEE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2" y="297561"/>
            <a:ext cx="1808546" cy="215303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FD1B569-396F-1F97-8BB6-D679AA2C26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59228" y="2542981"/>
            <a:ext cx="94361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Reusability: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existing code instead of writing again.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Overriding: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Child class can customize parent methods.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Organized Structure: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Creates clear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hierarchy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Ease of Maintenance: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Changes in parent class automatically reflect in child classes.</a:t>
            </a:r>
          </a:p>
        </p:txBody>
      </p:sp>
    </p:spTree>
    <p:extLst>
      <p:ext uri="{BB962C8B-B14F-4D97-AF65-F5344CB8AC3E}">
        <p14:creationId xmlns:p14="http://schemas.microsoft.com/office/powerpoint/2010/main" val="1314807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40BC4-A41A-3C00-AE79-E060092FC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323" y="754470"/>
            <a:ext cx="7618530" cy="1156626"/>
          </a:xfrm>
        </p:spPr>
        <p:txBody>
          <a:bodyPr/>
          <a:lstStyle/>
          <a:p>
            <a:r>
              <a:rPr lang="en-US" u="sng" dirty="0">
                <a:latin typeface="Comic Sans MS" panose="030F0702030302020204" pitchFamily="66" charset="0"/>
              </a:rPr>
              <a:t>key 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F131B-459F-833E-6230-61F0306EA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2" y="297561"/>
            <a:ext cx="1808546" cy="215303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C28E41B-180D-425D-9F92-9093F2F261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1316" y="2269249"/>
            <a:ext cx="872309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 Class (Superclass):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class being inherited from.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Child Class (Subclass):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class that inherits.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extends (Java):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Keyword used to inherit a class.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is-a Relationship: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Child “is a” type of parent.</a:t>
            </a:r>
          </a:p>
        </p:txBody>
      </p:sp>
    </p:spTree>
    <p:extLst>
      <p:ext uri="{BB962C8B-B14F-4D97-AF65-F5344CB8AC3E}">
        <p14:creationId xmlns:p14="http://schemas.microsoft.com/office/powerpoint/2010/main" val="169725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2431-64A0-3AD3-7626-877768A1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23" y="297561"/>
            <a:ext cx="7810554" cy="1400530"/>
          </a:xfrm>
        </p:spPr>
        <p:txBody>
          <a:bodyPr/>
          <a:lstStyle/>
          <a:p>
            <a:r>
              <a:rPr lang="en-US" u="sng" dirty="0">
                <a:latin typeface="Comic Sans MS" panose="030F0702030302020204" pitchFamily="66" charset="0"/>
              </a:rPr>
              <a:t>Types of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0A5A5-2DE0-2F04-F948-4DA258E00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280" y="1051560"/>
            <a:ext cx="9436608" cy="5614416"/>
          </a:xfrm>
        </p:spPr>
        <p:txBody>
          <a:bodyPr>
            <a:normAutofit/>
          </a:bodyPr>
          <a:lstStyle/>
          <a:p>
            <a:r>
              <a:rPr lang="en-US" sz="1800" b="1" u="sng" dirty="0"/>
              <a:t>Definition:-</a:t>
            </a:r>
            <a:r>
              <a:rPr lang="en-US" sz="1800" b="1" dirty="0"/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Single Inheritance occurs when one child class inherits from one parent class.</a:t>
            </a:r>
            <a:endParaRPr lang="en-US" sz="1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Code Example</a:t>
            </a:r>
          </a:p>
          <a:p>
            <a:pPr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class Animal:</a:t>
            </a:r>
          </a:p>
          <a:p>
            <a:pPr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def eat(self):</a:t>
            </a:r>
          </a:p>
          <a:p>
            <a:pPr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print("Animal is eating...")</a:t>
            </a:r>
          </a:p>
          <a:p>
            <a:pPr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class Dog(Animal):</a:t>
            </a:r>
          </a:p>
          <a:p>
            <a:pPr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def bark(self):</a:t>
            </a:r>
          </a:p>
          <a:p>
            <a:pPr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print("Dog is barking...")</a:t>
            </a:r>
          </a:p>
          <a:p>
            <a:pPr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 = Dog()</a:t>
            </a:r>
          </a:p>
          <a:p>
            <a:pPr>
              <a:buNone/>
            </a:pPr>
            <a:r>
              <a:rPr lang="en-US" sz="1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d.eat</a:t>
            </a: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()</a:t>
            </a:r>
          </a:p>
          <a:p>
            <a:pPr>
              <a:buNone/>
            </a:pPr>
            <a:r>
              <a:rPr lang="en-US" sz="1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d.bark</a:t>
            </a: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()</a:t>
            </a:r>
          </a:p>
          <a:p>
            <a:pPr>
              <a:buNone/>
            </a:pPr>
            <a:endParaRPr lang="en-US" sz="1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Output:- Animal is eating...</a:t>
            </a:r>
          </a:p>
          <a:p>
            <a:pPr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         Dog is barking...</a:t>
            </a:r>
          </a:p>
          <a:p>
            <a:pPr>
              <a:buNone/>
            </a:pPr>
            <a:endParaRPr lang="en-US" sz="1600" b="1" dirty="0"/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3A43C-6F63-528B-B899-81334967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2" y="297561"/>
            <a:ext cx="1808546" cy="215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52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9BD5-BDBC-1776-C225-0C59140D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579" y="173972"/>
            <a:ext cx="7828842" cy="882306"/>
          </a:xfrm>
        </p:spPr>
        <p:txBody>
          <a:bodyPr/>
          <a:lstStyle/>
          <a:p>
            <a:r>
              <a:rPr lang="en-US" u="sng" dirty="0">
                <a:latin typeface="Comic Sans MS" panose="030F0702030302020204" pitchFamily="66" charset="0"/>
              </a:rPr>
              <a:t>Multiple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F323F-1E55-2E50-39AD-79D4D7A79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6816" y="932688"/>
            <a:ext cx="9317736" cy="5627751"/>
          </a:xfrm>
        </p:spPr>
        <p:txBody>
          <a:bodyPr>
            <a:normAutofit fontScale="70000" lnSpcReduction="20000"/>
          </a:bodyPr>
          <a:lstStyle/>
          <a:p>
            <a:r>
              <a:rPr lang="en-US" sz="2500" b="1" dirty="0"/>
              <a:t>Definition:  </a:t>
            </a:r>
            <a:r>
              <a:rPr lang="en-US" sz="2500" dirty="0"/>
              <a:t>Multiple Inheritance occurs when a </a:t>
            </a:r>
            <a:r>
              <a:rPr lang="en-US" sz="2500" b="1" dirty="0"/>
              <a:t>child class inherits from more than one parent class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FF00"/>
                </a:solidFill>
              </a:rPr>
              <a:t>class Father:</a:t>
            </a:r>
          </a:p>
          <a:p>
            <a:r>
              <a:rPr lang="en-US" dirty="0">
                <a:solidFill>
                  <a:srgbClr val="FFFF00"/>
                </a:solidFill>
              </a:rPr>
              <a:t>    def quality1(self):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print("Father: Hardworking")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class Mother:</a:t>
            </a:r>
          </a:p>
          <a:p>
            <a:r>
              <a:rPr lang="en-US" dirty="0">
                <a:solidFill>
                  <a:srgbClr val="FFFF00"/>
                </a:solidFill>
              </a:rPr>
              <a:t>    def quality2(self):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print("Mother: Caring")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class Child(Father, Mother):</a:t>
            </a:r>
          </a:p>
          <a:p>
            <a:r>
              <a:rPr lang="en-US" dirty="0">
                <a:solidFill>
                  <a:srgbClr val="FFFF00"/>
                </a:solidFill>
              </a:rPr>
              <a:t>    def show(self):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print("Child: Combination of both qualities")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c = Child()</a:t>
            </a:r>
          </a:p>
          <a:p>
            <a:r>
              <a:rPr lang="en-US" dirty="0">
                <a:solidFill>
                  <a:srgbClr val="FFFF00"/>
                </a:solidFill>
              </a:rPr>
              <a:t>c.quality1()</a:t>
            </a:r>
          </a:p>
          <a:p>
            <a:r>
              <a:rPr lang="en-US" dirty="0">
                <a:solidFill>
                  <a:srgbClr val="FFFF00"/>
                </a:solidFill>
              </a:rPr>
              <a:t>c.quality2()</a:t>
            </a:r>
          </a:p>
          <a:p>
            <a:r>
              <a:rPr lang="en-US" dirty="0" err="1">
                <a:solidFill>
                  <a:srgbClr val="FFFF00"/>
                </a:solidFill>
              </a:rPr>
              <a:t>c.show</a:t>
            </a:r>
            <a:r>
              <a:rPr lang="en-US" dirty="0">
                <a:solidFill>
                  <a:srgbClr val="FFFF00"/>
                </a:solidFill>
              </a:rPr>
              <a:t>()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AD7E3-3D2D-4736-35A8-B79840A51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2" y="297561"/>
            <a:ext cx="1808546" cy="215303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1254E1F-9E30-C0E0-41EE-6BD08948A120}"/>
              </a:ext>
            </a:extLst>
          </p:cNvPr>
          <p:cNvSpPr txBox="1">
            <a:spLocks/>
          </p:cNvSpPr>
          <p:nvPr/>
        </p:nvSpPr>
        <p:spPr>
          <a:xfrm>
            <a:off x="6509308" y="3109250"/>
            <a:ext cx="4957268" cy="21530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u="sng" dirty="0">
              <a:latin typeface="Comic Sans MS" panose="030F0702030302020204" pitchFamily="66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58436B-610C-EE0E-41B5-3ACDECB5703C}"/>
              </a:ext>
            </a:extLst>
          </p:cNvPr>
          <p:cNvSpPr txBox="1">
            <a:spLocks/>
          </p:cNvSpPr>
          <p:nvPr/>
        </p:nvSpPr>
        <p:spPr>
          <a:xfrm>
            <a:off x="6920788" y="2864256"/>
            <a:ext cx="3878276" cy="18174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u="sng" dirty="0">
              <a:latin typeface="Comic Sans MS" panose="030F0702030302020204" pitchFamily="66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0D5505-AB2E-F8E8-10E3-68B6BEF5880B}"/>
              </a:ext>
            </a:extLst>
          </p:cNvPr>
          <p:cNvSpPr txBox="1">
            <a:spLocks/>
          </p:cNvSpPr>
          <p:nvPr/>
        </p:nvSpPr>
        <p:spPr>
          <a:xfrm>
            <a:off x="4363158" y="3504293"/>
            <a:ext cx="7828842" cy="8823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u="sng" dirty="0">
              <a:latin typeface="Comic Sans MS" panose="030F0702030302020204" pitchFamily="66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DA72C3-0604-8A9F-75A6-6EBC08BB3513}"/>
              </a:ext>
            </a:extLst>
          </p:cNvPr>
          <p:cNvSpPr txBox="1">
            <a:spLocks/>
          </p:cNvSpPr>
          <p:nvPr/>
        </p:nvSpPr>
        <p:spPr>
          <a:xfrm>
            <a:off x="6220968" y="4926721"/>
            <a:ext cx="5971032" cy="1544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Output:-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Father: Hardworking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Mother: Caring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Child: Combination of both qualitie</a:t>
            </a:r>
            <a:r>
              <a:rPr lang="en-US" sz="2000" dirty="0"/>
              <a:t>s</a:t>
            </a:r>
          </a:p>
          <a:p>
            <a:endParaRPr lang="en-US" u="s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88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A2E6C-9CE5-9A19-8141-1BCEF2E8F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9228" y="1069847"/>
            <a:ext cx="9882090" cy="549059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Multilevel Inheritance occurs when </a:t>
            </a:r>
            <a:r>
              <a:rPr lang="en-US" b="1" dirty="0"/>
              <a:t>a class inherits from a child class, and another class inherits from that class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C000"/>
                </a:solidFill>
              </a:rPr>
              <a:t>class </a:t>
            </a:r>
            <a:r>
              <a:rPr lang="en-US" dirty="0" err="1">
                <a:solidFill>
                  <a:srgbClr val="FFC000"/>
                </a:solidFill>
              </a:rPr>
              <a:t>GrandParent</a:t>
            </a:r>
            <a:r>
              <a:rPr lang="en-US" dirty="0">
                <a:solidFill>
                  <a:srgbClr val="FFC000"/>
                </a:solidFill>
              </a:rPr>
              <a:t>:</a:t>
            </a:r>
          </a:p>
          <a:p>
            <a:r>
              <a:rPr lang="en-US" dirty="0">
                <a:solidFill>
                  <a:srgbClr val="FFC000"/>
                </a:solidFill>
              </a:rPr>
              <a:t>    def house(self):</a:t>
            </a:r>
          </a:p>
          <a:p>
            <a:r>
              <a:rPr lang="en-US" dirty="0">
                <a:solidFill>
                  <a:srgbClr val="FFC000"/>
                </a:solidFill>
              </a:rPr>
              <a:t>        print("</a:t>
            </a:r>
            <a:r>
              <a:rPr lang="en-US" dirty="0" err="1">
                <a:solidFill>
                  <a:srgbClr val="FFC000"/>
                </a:solidFill>
              </a:rPr>
              <a:t>GrandParent</a:t>
            </a:r>
            <a:r>
              <a:rPr lang="en-US" dirty="0">
                <a:solidFill>
                  <a:srgbClr val="FFC000"/>
                </a:solidFill>
              </a:rPr>
              <a:t>: Owns a big house")</a:t>
            </a:r>
          </a:p>
          <a:p>
            <a:pPr marL="0" indent="0">
              <a:buNone/>
            </a:pPr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class Parent(</a:t>
            </a:r>
            <a:r>
              <a:rPr lang="en-US" dirty="0" err="1">
                <a:solidFill>
                  <a:srgbClr val="FFC000"/>
                </a:solidFill>
              </a:rPr>
              <a:t>GrandParent</a:t>
            </a:r>
            <a:r>
              <a:rPr lang="en-US" dirty="0">
                <a:solidFill>
                  <a:srgbClr val="FFC000"/>
                </a:solidFill>
              </a:rPr>
              <a:t>):</a:t>
            </a:r>
          </a:p>
          <a:p>
            <a:r>
              <a:rPr lang="en-US" dirty="0">
                <a:solidFill>
                  <a:srgbClr val="FFC000"/>
                </a:solidFill>
              </a:rPr>
              <a:t>    def car(self):</a:t>
            </a:r>
          </a:p>
          <a:p>
            <a:r>
              <a:rPr lang="en-US" dirty="0">
                <a:solidFill>
                  <a:srgbClr val="FFC000"/>
                </a:solidFill>
              </a:rPr>
              <a:t>        print("Parent: Owns a car")</a:t>
            </a:r>
          </a:p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class Child(Parent):</a:t>
            </a:r>
          </a:p>
          <a:p>
            <a:r>
              <a:rPr lang="en-US" dirty="0">
                <a:solidFill>
                  <a:srgbClr val="FFC000"/>
                </a:solidFill>
              </a:rPr>
              <a:t>    def bike(self):</a:t>
            </a:r>
          </a:p>
          <a:p>
            <a:r>
              <a:rPr lang="en-US" dirty="0">
                <a:solidFill>
                  <a:srgbClr val="FFC000"/>
                </a:solidFill>
              </a:rPr>
              <a:t>        print("Child: Owns a bike")</a:t>
            </a:r>
          </a:p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c = Child()</a:t>
            </a:r>
          </a:p>
          <a:p>
            <a:r>
              <a:rPr lang="en-US" dirty="0" err="1">
                <a:solidFill>
                  <a:srgbClr val="FFC000"/>
                </a:solidFill>
              </a:rPr>
              <a:t>c.house</a:t>
            </a:r>
            <a:r>
              <a:rPr lang="en-US" dirty="0">
                <a:solidFill>
                  <a:srgbClr val="FFC000"/>
                </a:solidFill>
              </a:rPr>
              <a:t>()</a:t>
            </a:r>
          </a:p>
          <a:p>
            <a:r>
              <a:rPr lang="en-US" dirty="0" err="1">
                <a:solidFill>
                  <a:srgbClr val="FFC000"/>
                </a:solidFill>
              </a:rPr>
              <a:t>c.car</a:t>
            </a:r>
            <a:r>
              <a:rPr lang="en-US" dirty="0">
                <a:solidFill>
                  <a:srgbClr val="FFC000"/>
                </a:solidFill>
              </a:rPr>
              <a:t>()</a:t>
            </a:r>
          </a:p>
          <a:p>
            <a:r>
              <a:rPr lang="en-US" dirty="0" err="1">
                <a:solidFill>
                  <a:srgbClr val="FFC000"/>
                </a:solidFill>
              </a:rPr>
              <a:t>c.bike</a:t>
            </a:r>
            <a:r>
              <a:rPr lang="en-US" dirty="0">
                <a:solidFill>
                  <a:srgbClr val="FFC000"/>
                </a:solidFill>
              </a:rPr>
              <a:t>()  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9D512-4EFC-1A04-FBF7-F3B834A44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2" y="297561"/>
            <a:ext cx="1808546" cy="215303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78E3396-A15E-1055-71F2-46C6BE11AA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1788" y="255588"/>
            <a:ext cx="70739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Multilevel Inheritance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039C24CE-35F3-F32A-6DDB-6C8ED1CC4F31}"/>
              </a:ext>
            </a:extLst>
          </p:cNvPr>
          <p:cNvSpPr txBox="1">
            <a:spLocks/>
          </p:cNvSpPr>
          <p:nvPr/>
        </p:nvSpPr>
        <p:spPr>
          <a:xfrm>
            <a:off x="6684836" y="4244910"/>
            <a:ext cx="4854892" cy="1969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Output:-</a:t>
            </a:r>
          </a:p>
          <a:p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GrandParent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: Owns a big house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Parent: Owns a car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Child: Owns a bike</a:t>
            </a:r>
          </a:p>
          <a:p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375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63EE-8AD5-B240-8370-8982A4D6F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214168"/>
            <a:ext cx="6373368" cy="790866"/>
          </a:xfrm>
        </p:spPr>
        <p:txBody>
          <a:bodyPr/>
          <a:lstStyle/>
          <a:p>
            <a:r>
              <a:rPr lang="en-US" u="sng" dirty="0">
                <a:latin typeface="Comic Sans MS" panose="030F0702030302020204" pitchFamily="66" charset="0"/>
              </a:rPr>
              <a:t>Hierarchical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0FF01-4F77-9B95-F310-3EADDB212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5416" y="932688"/>
            <a:ext cx="9755902" cy="585216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Hierarchical Inheritance occurs when </a:t>
            </a:r>
            <a:r>
              <a:rPr lang="en-US" b="1" dirty="0"/>
              <a:t>multiple child classes inherit from the same parent class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FF00"/>
                </a:solidFill>
              </a:rPr>
              <a:t>class Animal:</a:t>
            </a:r>
          </a:p>
          <a:p>
            <a:r>
              <a:rPr lang="en-US" dirty="0">
                <a:solidFill>
                  <a:srgbClr val="FFFF00"/>
                </a:solidFill>
              </a:rPr>
              <a:t>    def eat(self):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print("Animal is eating...")</a:t>
            </a:r>
          </a:p>
          <a:p>
            <a:pPr marL="0" indent="0">
              <a:buNone/>
            </a:pPr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class Dog(Animal):</a:t>
            </a:r>
          </a:p>
          <a:p>
            <a:r>
              <a:rPr lang="en-US" dirty="0">
                <a:solidFill>
                  <a:srgbClr val="FFFF00"/>
                </a:solidFill>
              </a:rPr>
              <a:t>    def bark(self):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print("Dog is barking...")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class Cat(Animal):</a:t>
            </a:r>
          </a:p>
          <a:p>
            <a:r>
              <a:rPr lang="en-US" dirty="0">
                <a:solidFill>
                  <a:srgbClr val="FFFF00"/>
                </a:solidFill>
              </a:rPr>
              <a:t>    def meow(self):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print("Cat is meowing...")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d = Dog()</a:t>
            </a:r>
          </a:p>
          <a:p>
            <a:r>
              <a:rPr lang="en-US" dirty="0">
                <a:solidFill>
                  <a:srgbClr val="FFFF00"/>
                </a:solidFill>
              </a:rPr>
              <a:t>c = Cat()</a:t>
            </a:r>
          </a:p>
          <a:p>
            <a:r>
              <a:rPr lang="en-US" dirty="0" err="1">
                <a:solidFill>
                  <a:srgbClr val="FFFF00"/>
                </a:solidFill>
              </a:rPr>
              <a:t>d.eat</a:t>
            </a:r>
            <a:r>
              <a:rPr lang="en-US" dirty="0">
                <a:solidFill>
                  <a:srgbClr val="FFFF00"/>
                </a:solidFill>
              </a:rPr>
              <a:t>()</a:t>
            </a:r>
          </a:p>
          <a:p>
            <a:r>
              <a:rPr lang="en-US" dirty="0" err="1">
                <a:solidFill>
                  <a:srgbClr val="FFFF00"/>
                </a:solidFill>
              </a:rPr>
              <a:t>d.bark</a:t>
            </a:r>
            <a:r>
              <a:rPr lang="en-US" dirty="0">
                <a:solidFill>
                  <a:srgbClr val="FFFF00"/>
                </a:solidFill>
              </a:rPr>
              <a:t>()</a:t>
            </a:r>
          </a:p>
          <a:p>
            <a:r>
              <a:rPr lang="en-US" dirty="0" err="1">
                <a:solidFill>
                  <a:srgbClr val="FFFF00"/>
                </a:solidFill>
              </a:rPr>
              <a:t>c.eat</a:t>
            </a:r>
            <a:r>
              <a:rPr lang="en-US" dirty="0">
                <a:solidFill>
                  <a:srgbClr val="FFFF00"/>
                </a:solidFill>
              </a:rPr>
              <a:t>() </a:t>
            </a:r>
          </a:p>
          <a:p>
            <a:r>
              <a:rPr lang="en-US" dirty="0" err="1">
                <a:solidFill>
                  <a:srgbClr val="FFFF00"/>
                </a:solidFill>
              </a:rPr>
              <a:t>c.meow</a:t>
            </a:r>
            <a:r>
              <a:rPr lang="en-US" dirty="0">
                <a:solidFill>
                  <a:srgbClr val="FFFF00"/>
                </a:solidFill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A6D7A-0ACB-C28E-2844-42C099572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2" y="297561"/>
            <a:ext cx="1808546" cy="215303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81B46F5-89F1-E2CA-6CA6-3E2C0BF830B0}"/>
              </a:ext>
            </a:extLst>
          </p:cNvPr>
          <p:cNvSpPr txBox="1">
            <a:spLocks/>
          </p:cNvSpPr>
          <p:nvPr/>
        </p:nvSpPr>
        <p:spPr>
          <a:xfrm>
            <a:off x="7063367" y="4398264"/>
            <a:ext cx="3688080" cy="25721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rgbClr val="FF3300"/>
                </a:solidFill>
                <a:latin typeface="Comic Sans MS" panose="030F0702030302020204" pitchFamily="66" charset="0"/>
              </a:rPr>
              <a:t>Output:-</a:t>
            </a:r>
          </a:p>
          <a:p>
            <a:r>
              <a:rPr lang="en-US" sz="2000" dirty="0">
                <a:solidFill>
                  <a:srgbClr val="FF3300"/>
                </a:solidFill>
                <a:latin typeface="Comic Sans MS" panose="030F0702030302020204" pitchFamily="66" charset="0"/>
              </a:rPr>
              <a:t>Animal is eating...</a:t>
            </a:r>
          </a:p>
          <a:p>
            <a:r>
              <a:rPr lang="en-US" sz="2000" dirty="0">
                <a:solidFill>
                  <a:srgbClr val="FF3300"/>
                </a:solidFill>
                <a:latin typeface="Comic Sans MS" panose="030F0702030302020204" pitchFamily="66" charset="0"/>
              </a:rPr>
              <a:t>Dog is barking...</a:t>
            </a:r>
          </a:p>
          <a:p>
            <a:r>
              <a:rPr lang="en-US" sz="2000" dirty="0">
                <a:solidFill>
                  <a:srgbClr val="FF3300"/>
                </a:solidFill>
                <a:latin typeface="Comic Sans MS" panose="030F0702030302020204" pitchFamily="66" charset="0"/>
              </a:rPr>
              <a:t>Animal is eating...</a:t>
            </a:r>
          </a:p>
          <a:p>
            <a:r>
              <a:rPr lang="en-US" sz="2000" dirty="0">
                <a:solidFill>
                  <a:srgbClr val="FF3300"/>
                </a:solidFill>
                <a:latin typeface="Comic Sans MS" panose="030F0702030302020204" pitchFamily="66" charset="0"/>
              </a:rPr>
              <a:t>Cat is meowing...</a:t>
            </a:r>
          </a:p>
          <a:p>
            <a:endParaRPr lang="en-US" u="s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454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6C8A5-2DA1-BB7D-5306-7FC7D415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D323-5A58-9F83-61C3-14449E39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214168"/>
            <a:ext cx="6373368" cy="790866"/>
          </a:xfrm>
        </p:spPr>
        <p:txBody>
          <a:bodyPr/>
          <a:lstStyle/>
          <a:p>
            <a:r>
              <a:rPr lang="en-US" u="sng" dirty="0">
                <a:latin typeface="Comic Sans MS" panose="030F0702030302020204" pitchFamily="66" charset="0"/>
              </a:rPr>
              <a:t>Hybrid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79A9D-DF92-659A-FE1A-78200D82E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5416" y="932688"/>
            <a:ext cx="9755902" cy="571114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Hybrid Inheritance is a </a:t>
            </a:r>
            <a:r>
              <a:rPr lang="en-US" b="1" dirty="0"/>
              <a:t>combination of two or more types of inheritance</a:t>
            </a:r>
            <a:r>
              <a:rPr lang="en-US" dirty="0"/>
              <a:t>(e.g., </a:t>
            </a:r>
            <a:r>
              <a:rPr lang="en-US" b="1" dirty="0"/>
              <a:t>Single + Multilevel + Multiple + Hierarchical</a:t>
            </a:r>
            <a:r>
              <a:rPr lang="en-US" dirty="0"/>
              <a:t> in one structure). # Parent Class</a:t>
            </a:r>
          </a:p>
          <a:p>
            <a:r>
              <a:rPr lang="en-US" dirty="0">
                <a:solidFill>
                  <a:srgbClr val="FFFF00"/>
                </a:solidFill>
              </a:rPr>
              <a:t>class A:</a:t>
            </a:r>
          </a:p>
          <a:p>
            <a:r>
              <a:rPr lang="en-US" dirty="0">
                <a:solidFill>
                  <a:srgbClr val="FFFF00"/>
                </a:solidFill>
              </a:rPr>
              <a:t>    def </a:t>
            </a:r>
            <a:r>
              <a:rPr lang="en-US" dirty="0" err="1">
                <a:solidFill>
                  <a:srgbClr val="FFFF00"/>
                </a:solidFill>
              </a:rPr>
              <a:t>featureA</a:t>
            </a:r>
            <a:r>
              <a:rPr lang="en-US" dirty="0">
                <a:solidFill>
                  <a:srgbClr val="FFFF00"/>
                </a:solidFill>
              </a:rPr>
              <a:t>(self):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print("Feature A from Class A")</a:t>
            </a:r>
          </a:p>
          <a:p>
            <a:r>
              <a:rPr lang="en-US" dirty="0">
                <a:solidFill>
                  <a:srgbClr val="FFFF00"/>
                </a:solidFill>
              </a:rPr>
              <a:t>class B(A):</a:t>
            </a:r>
          </a:p>
          <a:p>
            <a:r>
              <a:rPr lang="en-US" dirty="0">
                <a:solidFill>
                  <a:srgbClr val="FFFF00"/>
                </a:solidFill>
              </a:rPr>
              <a:t>    def </a:t>
            </a:r>
            <a:r>
              <a:rPr lang="en-US" dirty="0" err="1">
                <a:solidFill>
                  <a:srgbClr val="FFFF00"/>
                </a:solidFill>
              </a:rPr>
              <a:t>featureB</a:t>
            </a:r>
            <a:r>
              <a:rPr lang="en-US" dirty="0">
                <a:solidFill>
                  <a:srgbClr val="FFFF00"/>
                </a:solidFill>
              </a:rPr>
              <a:t>(self):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print("Feature B from Class B")</a:t>
            </a:r>
          </a:p>
          <a:p>
            <a:r>
              <a:rPr lang="en-US" dirty="0">
                <a:solidFill>
                  <a:srgbClr val="FFFF00"/>
                </a:solidFill>
              </a:rPr>
              <a:t>class C(A):</a:t>
            </a:r>
          </a:p>
          <a:p>
            <a:r>
              <a:rPr lang="en-US" dirty="0">
                <a:solidFill>
                  <a:srgbClr val="FFFF00"/>
                </a:solidFill>
              </a:rPr>
              <a:t>    def </a:t>
            </a:r>
            <a:r>
              <a:rPr lang="en-US" dirty="0" err="1">
                <a:solidFill>
                  <a:srgbClr val="FFFF00"/>
                </a:solidFill>
              </a:rPr>
              <a:t>featureC</a:t>
            </a:r>
            <a:r>
              <a:rPr lang="en-US" dirty="0">
                <a:solidFill>
                  <a:srgbClr val="FFFF00"/>
                </a:solidFill>
              </a:rPr>
              <a:t>(self):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print("Feature C from Class C")</a:t>
            </a:r>
          </a:p>
          <a:p>
            <a:r>
              <a:rPr lang="en-US" dirty="0">
                <a:solidFill>
                  <a:srgbClr val="FFFF00"/>
                </a:solidFill>
              </a:rPr>
              <a:t>class D(B, C):</a:t>
            </a:r>
          </a:p>
          <a:p>
            <a:r>
              <a:rPr lang="en-US" dirty="0">
                <a:solidFill>
                  <a:srgbClr val="FFFF00"/>
                </a:solidFill>
              </a:rPr>
              <a:t>    def </a:t>
            </a:r>
            <a:r>
              <a:rPr lang="en-US" dirty="0" err="1">
                <a:solidFill>
                  <a:srgbClr val="FFFF00"/>
                </a:solidFill>
              </a:rPr>
              <a:t>featureD</a:t>
            </a:r>
            <a:r>
              <a:rPr lang="en-US" dirty="0">
                <a:solidFill>
                  <a:srgbClr val="FFFF00"/>
                </a:solidFill>
              </a:rPr>
              <a:t>(self):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print("Feature D from Class D")d = D()</a:t>
            </a:r>
          </a:p>
          <a:p>
            <a:r>
              <a:rPr lang="en-US" dirty="0" err="1">
                <a:solidFill>
                  <a:srgbClr val="FFFF00"/>
                </a:solidFill>
              </a:rPr>
              <a:t>d.featureA</a:t>
            </a:r>
            <a:r>
              <a:rPr lang="en-US" dirty="0">
                <a:solidFill>
                  <a:srgbClr val="FFFF00"/>
                </a:solidFill>
              </a:rPr>
              <a:t>()  </a:t>
            </a:r>
          </a:p>
          <a:p>
            <a:r>
              <a:rPr lang="en-US" dirty="0" err="1">
                <a:solidFill>
                  <a:srgbClr val="FFFF00"/>
                </a:solidFill>
              </a:rPr>
              <a:t>d.featureB</a:t>
            </a:r>
            <a:r>
              <a:rPr lang="en-US" dirty="0">
                <a:solidFill>
                  <a:srgbClr val="FFFF00"/>
                </a:solidFill>
              </a:rPr>
              <a:t>()  </a:t>
            </a:r>
          </a:p>
          <a:p>
            <a:r>
              <a:rPr lang="en-US" dirty="0" err="1">
                <a:solidFill>
                  <a:srgbClr val="FFFF00"/>
                </a:solidFill>
              </a:rPr>
              <a:t>d.featureC</a:t>
            </a:r>
            <a:r>
              <a:rPr lang="en-US" dirty="0">
                <a:solidFill>
                  <a:srgbClr val="FFFF00"/>
                </a:solidFill>
              </a:rPr>
              <a:t>() </a:t>
            </a:r>
          </a:p>
          <a:p>
            <a:r>
              <a:rPr lang="en-US" dirty="0" err="1">
                <a:solidFill>
                  <a:srgbClr val="FFFF00"/>
                </a:solidFill>
              </a:rPr>
              <a:t>d.featureD</a:t>
            </a:r>
            <a:r>
              <a:rPr lang="en-US" dirty="0">
                <a:solidFill>
                  <a:srgbClr val="FFFF00"/>
                </a:solidFill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95D739-22A6-2BC9-D74E-092695933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2" y="297561"/>
            <a:ext cx="1808546" cy="215303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A11FDBB-FA93-0378-F5B9-0008AC1DA495}"/>
              </a:ext>
            </a:extLst>
          </p:cNvPr>
          <p:cNvSpPr txBox="1">
            <a:spLocks/>
          </p:cNvSpPr>
          <p:nvPr/>
        </p:nvSpPr>
        <p:spPr>
          <a:xfrm>
            <a:off x="7703447" y="3899826"/>
            <a:ext cx="3525386" cy="18334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rgbClr val="FF3300"/>
                </a:solidFill>
                <a:latin typeface="Comic Sans MS" panose="030F0702030302020204" pitchFamily="66" charset="0"/>
              </a:rPr>
              <a:t>Output:-</a:t>
            </a:r>
          </a:p>
          <a:p>
            <a:r>
              <a:rPr lang="en-US" sz="2000" dirty="0">
                <a:solidFill>
                  <a:srgbClr val="FF3300"/>
                </a:solidFill>
                <a:latin typeface="Comic Sans MS" panose="030F0702030302020204" pitchFamily="66" charset="0"/>
              </a:rPr>
              <a:t>Feature A from Class A</a:t>
            </a:r>
          </a:p>
          <a:p>
            <a:r>
              <a:rPr lang="en-US" sz="2000" dirty="0">
                <a:solidFill>
                  <a:srgbClr val="FF3300"/>
                </a:solidFill>
                <a:latin typeface="Comic Sans MS" panose="030F0702030302020204" pitchFamily="66" charset="0"/>
              </a:rPr>
              <a:t>Feature B from Class B</a:t>
            </a:r>
          </a:p>
          <a:p>
            <a:r>
              <a:rPr lang="en-US" sz="2000" dirty="0">
                <a:solidFill>
                  <a:srgbClr val="FF3300"/>
                </a:solidFill>
                <a:latin typeface="Comic Sans MS" panose="030F0702030302020204" pitchFamily="66" charset="0"/>
              </a:rPr>
              <a:t>Feature C from Class C</a:t>
            </a:r>
          </a:p>
          <a:p>
            <a:r>
              <a:rPr lang="en-US" sz="2000" dirty="0">
                <a:solidFill>
                  <a:srgbClr val="FF3300"/>
                </a:solidFill>
                <a:latin typeface="Comic Sans MS" panose="030F0702030302020204" pitchFamily="66" charset="0"/>
              </a:rPr>
              <a:t>Feature D from Class D</a:t>
            </a:r>
          </a:p>
          <a:p>
            <a:endParaRPr lang="en-US" u="s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95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447B1-BCEB-2056-2A7E-18B27E9C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168" y="314752"/>
            <a:ext cx="5394960" cy="589698"/>
          </a:xfrm>
        </p:spPr>
        <p:txBody>
          <a:bodyPr/>
          <a:lstStyle/>
          <a:p>
            <a:r>
              <a:rPr lang="en-US" sz="3200" u="sng" dirty="0">
                <a:solidFill>
                  <a:srgbClr val="FF3300"/>
                </a:solidFill>
                <a:latin typeface="Comic Sans MS" panose="030F0702030302020204" pitchFamily="66" charset="0"/>
              </a:rPr>
              <a:t>Advantages of Inheritance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08126D-4CFE-5D00-B743-D4DA9F602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2" y="297561"/>
            <a:ext cx="1808546" cy="215303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AD471A-A4C3-0F2F-4BC1-F04BD09047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60980" y="1157932"/>
            <a:ext cx="701703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Code Reusability: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Less duplication.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Extensibility: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Easy to add new features.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Maintenance: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Updates propagate automatically.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Polymorphism Support: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Enables method overriding.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96AF25-B8A3-8789-A38E-5B22B9607D85}"/>
              </a:ext>
            </a:extLst>
          </p:cNvPr>
          <p:cNvSpPr txBox="1">
            <a:spLocks/>
          </p:cNvSpPr>
          <p:nvPr/>
        </p:nvSpPr>
        <p:spPr>
          <a:xfrm>
            <a:off x="2154936" y="3448406"/>
            <a:ext cx="6348984" cy="5896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u="sng" dirty="0" err="1">
                <a:solidFill>
                  <a:srgbClr val="FF3300"/>
                </a:solidFill>
                <a:latin typeface="Comic Sans MS" panose="030F0702030302020204" pitchFamily="66" charset="0"/>
              </a:rPr>
              <a:t>DisAdvantages</a:t>
            </a:r>
            <a:r>
              <a:rPr lang="en-US" sz="3200" u="sng" dirty="0">
                <a:solidFill>
                  <a:srgbClr val="FF3300"/>
                </a:solidFill>
                <a:latin typeface="Comic Sans MS" panose="030F0702030302020204" pitchFamily="66" charset="0"/>
              </a:rPr>
              <a:t> of Inheritance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F1B8720-4659-86BF-BFF4-41A2CDA14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912" y="4441063"/>
            <a:ext cx="7017032" cy="2010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Tight Coupling:</a:t>
            </a:r>
            <a:r>
              <a:rPr lang="en-US" sz="1800" dirty="0">
                <a:solidFill>
                  <a:srgbClr val="FFC000"/>
                </a:solidFill>
              </a:rPr>
              <a:t> Changes in parent affect child classes.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Complexity:</a:t>
            </a:r>
            <a:r>
              <a:rPr lang="en-US" sz="1800" dirty="0">
                <a:solidFill>
                  <a:srgbClr val="FFC000"/>
                </a:solidFill>
              </a:rPr>
              <a:t> Deep inheritance hierarchies are hard to manage.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Overhead:</a:t>
            </a:r>
            <a:r>
              <a:rPr lang="en-US" sz="1800" dirty="0">
                <a:solidFill>
                  <a:srgbClr val="FFC000"/>
                </a:solidFill>
              </a:rPr>
              <a:t> Unnecessary properties may be inherited.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853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0037-109D-C72D-5C62-475FA9197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8" y="324702"/>
            <a:ext cx="3621024" cy="708570"/>
          </a:xfrm>
        </p:spPr>
        <p:txBody>
          <a:bodyPr/>
          <a:lstStyle/>
          <a:p>
            <a:r>
              <a:rPr lang="en-US" u="sng" dirty="0">
                <a:solidFill>
                  <a:srgbClr val="FF3300"/>
                </a:solidFill>
                <a:latin typeface="Comic Sans MS" panose="030F0702030302020204" pitchFamily="66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44C6ED-E9C9-C2CC-3375-9B988DA03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2" y="297561"/>
            <a:ext cx="1808546" cy="215303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117B83F-971A-9157-CD7C-946566C2AF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41180" y="1245183"/>
            <a:ext cx="710963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Inheritance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core OOP concept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for code reuse and hierarchy.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reducing redundancy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improving organization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Must be used carefully to avoid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complexity and tight coupling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6AE246-3016-6139-3FC0-7392518CB022}"/>
              </a:ext>
            </a:extLst>
          </p:cNvPr>
          <p:cNvSpPr txBox="1">
            <a:spLocks/>
          </p:cNvSpPr>
          <p:nvPr/>
        </p:nvSpPr>
        <p:spPr>
          <a:xfrm>
            <a:off x="2392680" y="2724912"/>
            <a:ext cx="9512808" cy="31363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3800" u="sng" dirty="0">
                <a:latin typeface="Comic Sans MS" panose="030F0702030302020204" pitchFamily="66" charset="0"/>
              </a:rPr>
              <a:t>Thank u</a:t>
            </a:r>
          </a:p>
        </p:txBody>
      </p:sp>
    </p:spTree>
    <p:extLst>
      <p:ext uri="{BB962C8B-B14F-4D97-AF65-F5344CB8AC3E}">
        <p14:creationId xmlns:p14="http://schemas.microsoft.com/office/powerpoint/2010/main" val="1477034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1568</TotalTime>
  <Words>836</Words>
  <Application>Microsoft Office PowerPoint</Application>
  <PresentationFormat>Widescreen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Comic Sans MS</vt:lpstr>
      <vt:lpstr>Wingdings</vt:lpstr>
      <vt:lpstr>Wingdings 3</vt:lpstr>
      <vt:lpstr>Ion</vt:lpstr>
      <vt:lpstr>Title:- Inheritance</vt:lpstr>
      <vt:lpstr>Title: What is Inheritance?</vt:lpstr>
      <vt:lpstr>Why Inheritance is Used?</vt:lpstr>
      <vt:lpstr>key features</vt:lpstr>
      <vt:lpstr>Types of Inheritance</vt:lpstr>
      <vt:lpstr>Multiple Inheritance</vt:lpstr>
      <vt:lpstr>Multilevel Inheritance</vt:lpstr>
      <vt:lpstr>Hierarchical Inheritance</vt:lpstr>
      <vt:lpstr>Hybrid Inheritance</vt:lpstr>
      <vt:lpstr>Advantages of Inheritance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kumar</dc:creator>
  <cp:lastModifiedBy>Alok kumar</cp:lastModifiedBy>
  <cp:revision>4</cp:revision>
  <dcterms:created xsi:type="dcterms:W3CDTF">2025-12-01T17:34:54Z</dcterms:created>
  <dcterms:modified xsi:type="dcterms:W3CDTF">2026-04-27T10:12:39Z</dcterms:modified>
</cp:coreProperties>
</file>